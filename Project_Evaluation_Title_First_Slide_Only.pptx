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58200" y="0"/>
            <a:ext cx="3749039" cy="6858000"/>
          </a:xfrm>
          <a:prstGeom prst="rect">
            <a:avLst/>
          </a:prstGeom>
          <a:solidFill>
            <a:srgbClr val="2B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1097280"/>
            <a:ext cx="1828800" cy="1828800"/>
          </a:xfrm>
          <a:prstGeom prst="ellipse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2971800"/>
            <a:ext cx="1097280" cy="1097280"/>
          </a:xfrm>
          <a:prstGeom prst="ellipse">
            <a:avLst/>
          </a:prstGeom>
          <a:solidFill>
            <a:srgbClr val="E6A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DAE6F2"/>
                </a:solidFill>
                <a:latin typeface="Aptos"/>
              </a:defRPr>
            </a:pPr>
            <a:r>
              <a:t>Compressing 512-tap adaptive filters into 32-dimensional latent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5943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Project evaluation • Group of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FDCDC"/>
                </a:solidFill>
                <a:latin typeface="Aptos"/>
              </a:defRPr>
            </a:pPr>
            <a:r>
              <a:t>Important: figures supplied here are labelled synthetic smoke-test outputs, not Part 1 measurements.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722376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Part 2 — Latent FxLMS</a:t>
            </a:r>
            <a:br/>
            <a:r>
              <a:t>Autoencoders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1. 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40080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22C38"/>
                </a:solidFill>
                <a:latin typeface="Aptos"/>
              </a:defRPr>
            </a:pPr>
            <a:r>
              <a:t>•  Part 1 produces W: 2,048 filters, each with 512 real-valued taps.</a:t>
            </a:r>
          </a:p>
          <a:p>
            <a:pPr>
              <a:spcAft>
                <a:spcPts val="1300"/>
              </a:spcAft>
              <a:defRPr sz="1900">
                <a:solidFill>
                  <a:srgbClr val="222C38"/>
                </a:solidFill>
                <a:latin typeface="Aptos"/>
              </a:defRPr>
            </a:pPr>
            <a:r>
              <a:t>•  Storing and working with every tap is high-dimensional.</a:t>
            </a:r>
          </a:p>
          <a:p>
            <a:pPr>
              <a:spcAft>
                <a:spcPts val="1300"/>
              </a:spcAft>
              <a:defRPr sz="1900">
                <a:solidFill>
                  <a:srgbClr val="222C38"/>
                </a:solidFill>
                <a:latin typeface="Aptos"/>
              </a:defRPr>
            </a:pPr>
            <a:r>
              <a:t>•  Goal: learn a compact 32-value latent code for each filter.</a:t>
            </a:r>
          </a:p>
          <a:p>
            <a:pPr>
              <a:spcAft>
                <a:spcPts val="1300"/>
              </a:spcAft>
              <a:defRPr sz="1900">
                <a:solidFill>
                  <a:srgbClr val="222C38"/>
                </a:solidFill>
                <a:latin typeface="Aptos"/>
              </a:defRPr>
            </a:pPr>
            <a:r>
              <a:t>•  A decoder maps the 32 values back to a 512-tap filter.</a:t>
            </a:r>
          </a:p>
          <a:p>
            <a:pPr>
              <a:spcAft>
                <a:spcPts val="1300"/>
              </a:spcAft>
              <a:defRPr sz="1900">
                <a:solidFill>
                  <a:srgbClr val="222C38"/>
                </a:solidFill>
                <a:latin typeface="Aptos"/>
              </a:defRPr>
            </a:pPr>
            <a:r>
              <a:t>•  Part 2 is a representation-learning stage; Part 3 uses the decoder and its derivatives.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393192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700">
                <a:solidFill>
                  <a:srgbClr val="142A4A"/>
                </a:solidFill>
                <a:latin typeface="Aptos"/>
              </a:defRPr>
            </a:pPr>
            <a:r>
              <a:t>Input: W.npy  •  Expected shape: (2048, 512)</a:t>
            </a:r>
            <a:br/>
            <a:r>
              <a:t>Output: trained checkpoints + latent codes + evaluation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429000"/>
            <a:ext cx="3931920" cy="1143000"/>
          </a:xfrm>
          <a:prstGeom prst="roundRect">
            <a:avLst/>
          </a:prstGeom>
          <a:solidFill>
            <a:srgbClr val="E2F5F1"/>
          </a:solidFill>
          <a:ln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900">
                <a:solidFill>
                  <a:srgbClr val="142A4A"/>
                </a:solidFill>
                <a:latin typeface="Aptos"/>
              </a:defRPr>
            </a:pPr>
            <a:r>
              <a:t>One filter = 512 numbers  →  32 latent numbers</a:t>
            </a:r>
            <a:br/>
            <a:r>
              <a:t>Compression in dimension: 16×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2. Dataset and source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90806"/>
            <a:ext cx="6858000" cy="2493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417320"/>
            <a:ext cx="3886200" cy="3474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Rows correspond to source-position samples.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Each row contains a 512-tap filter.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A position-aware holdout tests generalization to unseen positions.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Synthetic demo plots are for software smoke-testing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663440"/>
            <a:ext cx="3749039" cy="594360"/>
          </a:xfrm>
          <a:prstGeom prst="roundRect">
            <a:avLst/>
          </a:prstGeom>
          <a:solidFill>
            <a:srgbClr val="FFF1E8"/>
          </a:solidFill>
          <a:ln>
            <a:solidFill>
              <a:srgbClr val="FF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400">
                <a:solidFill>
                  <a:srgbClr val="B02D2D"/>
                </a:solidFill>
                <a:latin typeface="Aptos"/>
              </a:defRPr>
            </a:pPr>
            <a:r>
              <a:t>Real evaluation must use the actual Part 1 W.npy.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3. Preprocessing: preserve the filter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filter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9840"/>
            <a:ext cx="6766560" cy="3443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325880"/>
            <a:ext cx="4023360" cy="3566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Load W.npy strictly and check its shape.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Apply one global max-absolute scale.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Split by source position: every eighth sample is held out.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Use the saved scale to return decoded filters to original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800600"/>
            <a:ext cx="4023360" cy="73152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400">
                <a:solidFill>
                  <a:srgbClr val="142A4A"/>
                </a:solidFill>
                <a:latin typeface="Aptos"/>
              </a:defRPr>
            </a:pPr>
            <a:r>
              <a:t>Why not per-filter scaling? It can hide meaningful differences in filter magnitude.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4. Model architecture: 512 → 32 → 512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520"/>
            <a:ext cx="11247120" cy="3306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074920"/>
            <a:ext cx="1088136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500">
                <a:solidFill>
                  <a:srgbClr val="142A4A"/>
                </a:solidFill>
                <a:latin typeface="Aptos"/>
              </a:defRPr>
            </a:pPr>
            <a:r>
              <a:t>Encoder: 512 taps → RFFT (257 complex) → 514 real features → 256 → 32</a:t>
            </a:r>
            <a:br/>
            <a:r>
              <a:t>Decoder: 32 → 256 → 514 → IRFFT → 512 taps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5. Six variants: what changes between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20040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2B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B68A6"/>
                </a:solidFill>
                <a:latin typeface="Aptos"/>
              </a:defRPr>
            </a:pPr>
            <a:r>
              <a:t>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5740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222C38"/>
                </a:solidFill>
                <a:latin typeface="Aptos"/>
              </a:defRPr>
            </a:pPr>
            <a:r>
              <a:t>Reconstruction 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20040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1C8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7276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C8E88"/>
                </a:solidFill>
                <a:latin typeface="Aptos"/>
              </a:defRPr>
            </a:pPr>
            <a:r>
              <a:t>VAE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05740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222C38"/>
                </a:solidFill>
                <a:latin typeface="Aptos"/>
              </a:defRPr>
            </a:pPr>
            <a:r>
              <a:t>Reconstruction + Gaussian KL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320040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E6A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57276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E6A836"/>
                </a:solidFill>
                <a:latin typeface="Aptos"/>
              </a:defRPr>
            </a:pPr>
            <a:r>
              <a:t>InfoVAE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05740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222C38"/>
                </a:solidFill>
                <a:latin typeface="Aptos"/>
              </a:defRPr>
            </a:pPr>
            <a:r>
              <a:t>Reconstruction + MMD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54680"/>
            <a:ext cx="10332720" cy="640080"/>
          </a:xfrm>
          <a:prstGeom prst="roundRect">
            <a:avLst/>
          </a:prstGeom>
          <a:solidFill>
            <a:srgbClr val="E2F5F1"/>
          </a:solidFill>
          <a:ln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700">
                <a:solidFill>
                  <a:srgbClr val="142A4A"/>
                </a:solidFill>
                <a:latin typeface="Aptos"/>
              </a:defRPr>
            </a:pPr>
            <a:r>
              <a:t>Each also has a +mixup version: AE+mixup, VAE+mixup, InfoVAE+mixup.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Mixup adds mixed-filter reconstruction consistency (L_C).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Mixup also encourages latent linearity (L_z).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InfoVAE default MMD kernel variance = 0.01; monitor whether it saturates.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6. Training behaviour and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42924"/>
            <a:ext cx="7315200" cy="2806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371600"/>
            <a:ext cx="3474720" cy="3566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Optimizer: Adam, learning rate 0.001.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Default research run: up to 120 epochs with early stopping.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VAE beta = 1; mixup weights = 1.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Demo: only 8 epochs to smoke-test the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846320"/>
            <a:ext cx="3383280" cy="548640"/>
          </a:xfrm>
          <a:prstGeom prst="roundRect">
            <a:avLst/>
          </a:prstGeom>
          <a:solidFill>
            <a:srgbClr val="FFF1E8"/>
          </a:solidFill>
          <a:ln>
            <a:solidFill>
              <a:srgbClr val="FF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400">
                <a:solidFill>
                  <a:srgbClr val="B02D2D"/>
                </a:solidFill>
                <a:latin typeface="Aptos"/>
              </a:defRPr>
            </a:pPr>
            <a:r>
              <a:t>A lower training loss alone does not prove better filters.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7. Does the decoder reconstruct unseen filters?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filter_reco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63" y="960120"/>
            <a:ext cx="640775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371600"/>
            <a:ext cx="2926080" cy="3383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Held-out positions are not used for training.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Compare the original and decoded tap sequences.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Use relative reconstruction error as one metric.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Check attenuation too—not only visual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800600"/>
            <a:ext cx="2971800" cy="731520"/>
          </a:xfrm>
          <a:prstGeom prst="roundRect">
            <a:avLst/>
          </a:prstGeom>
          <a:solidFill>
            <a:srgbClr val="FFF1E8"/>
          </a:solidFill>
          <a:ln>
            <a:solidFill>
              <a:srgbClr val="FF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>
                <a:solidFill>
                  <a:srgbClr val="B02D2D"/>
                </a:solidFill>
                <a:latin typeface="Aptos"/>
              </a:defRPr>
            </a:pPr>
            <a:r>
              <a:t>The supplied figure is a synthetic demo, not a real-data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8. Comparing models fairly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3067"/>
            <a:ext cx="7315200" cy="3186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79" y="1325880"/>
            <a:ext cx="3429000" cy="3611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Compare mean and median held-out relative error.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PCA-32 is a simple dimensionality-reduction baseline.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Choose using held-out reconstruction AND attenuation.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Do not present synthetic numbers as Part 1 simulation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9. What do the 32-dimensional latent codes show?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latent_code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77" y="960120"/>
            <a:ext cx="4910405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325880"/>
            <a:ext cx="3154680" cy="3429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Each dot represents one filter's latent code.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Colour indicates source-position index.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PCA shows only a 2D view of a 32D code.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Patterns are exploratory, not proof of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10. Why use mixup?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mixup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9315"/>
            <a:ext cx="7498079" cy="3353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246120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Blend two filters using a mixing weight.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L_C: reconstruct the mixed filter consistently.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L_z: encourage linearity in latent space.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Stress-test unseen convex combinations.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4754880"/>
            <a:ext cx="3291840" cy="73152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>
                <a:solidFill>
                  <a:srgbClr val="142A4A"/>
                </a:solidFill>
                <a:latin typeface="Aptos"/>
              </a:defRPr>
            </a:pPr>
            <a:r>
              <a:t>Mixup helps test interpolation behaviour; it does not guarantee low reconstruction error.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11. Baseline: PCA with 32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47183"/>
            <a:ext cx="7406640" cy="439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417320"/>
            <a:ext cx="315468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PCA is linear; an autoencoder can learn nonlinear mappings.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Compare reconstruction error using the same test split.</a:t>
            </a:r>
          </a:p>
          <a:p>
            <a:pPr>
              <a:spcAft>
                <a:spcPts val="1300"/>
              </a:spcAft>
              <a:defRPr sz="1600">
                <a:solidFill>
                  <a:srgbClr val="222C38"/>
                </a:solidFill>
                <a:latin typeface="Aptos"/>
              </a:defRPr>
            </a:pPr>
            <a:r>
              <a:t>•  Use identical input scaling for a fair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12. Decoder Jacobian: bridge to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jacobia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4106"/>
            <a:ext cx="7406640" cy="41240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234440"/>
            <a:ext cx="3200400" cy="37490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 Jacobian shape: 512 × 32.</a:t>
            </a:r>
          </a:p>
          <a:p>
            <a:pPr>
              <a:spcAft>
                <a:spcPts val="13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 It is computed by automatic differentiation.</a:t>
            </a:r>
          </a:p>
          <a:p>
            <a:pPr>
              <a:spcAft>
                <a:spcPts val="13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 FFT and inverse FFT are differentiable and have no learned parameters.</a:t>
            </a:r>
          </a:p>
          <a:p>
            <a:pPr>
              <a:spcAft>
                <a:spcPts val="1300"/>
              </a:spcAft>
              <a:defRPr sz="1500">
                <a:solidFill>
                  <a:srgbClr val="222C38"/>
                </a:solidFill>
                <a:latin typeface="Aptos"/>
              </a:defRPr>
            </a:pPr>
            <a:r>
              <a:t>•  Smooth SiLU activations support derivative-based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C8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A4A"/>
                </a:solidFill>
                <a:latin typeface="Aptos"/>
              </a:defRPr>
            </a:pPr>
            <a:r>
              <a:t>13. Outputs, limitations, and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B69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789920" cy="4251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Outputs: model checkpoints, Z_&lt;model&gt;.npy, z0_&lt;model&gt;.npy, metrics, and plots.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If P.npy and g.npy are available, evaluate attenuation of decoded filters.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The attenuation formula follows Part 1: 10 log10(sum(p²) / sum(r²)).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Paper/project notes report a setup discrepancy: about 15.8 dB median Wiener-optimum in Part 1 versus about 37 dB in the paper.</a:t>
            </a:r>
          </a:p>
          <a:p>
            <a:pPr>
              <a:spcAft>
                <a:spcPts val="1300"/>
              </a:spcAft>
              <a:defRPr sz="1700">
                <a:solidFill>
                  <a:srgbClr val="222C38"/>
                </a:solidFill>
                <a:latin typeface="Aptos"/>
              </a:defRPr>
            </a:pPr>
            <a:r>
              <a:t>•  Final model selection must use real-data held-out error AND attenuation.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57800"/>
            <a:ext cx="10698480" cy="475488"/>
          </a:xfrm>
          <a:prstGeom prst="roundRect">
            <a:avLst/>
          </a:prstGeom>
          <a:solidFill>
            <a:srgbClr val="E2F5F1"/>
          </a:solidFill>
          <a:ln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500">
                <a:solidFill>
                  <a:srgbClr val="142A4A"/>
                </a:solidFill>
                <a:latin typeface="Aptos"/>
              </a:defRPr>
            </a:pPr>
            <a:r>
              <a:t>Takeaway: learn a compact 32D representation, validate on unseen positions, and pass a differentiable decoder to Part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