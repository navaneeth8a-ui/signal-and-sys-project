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8288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78DCDC"/>
                </a:solidFill>
                <a:latin typeface="Aptos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10424160" cy="1645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Acoustic Simulation</a:t>
            </a:r>
          </a:p>
          <a:p>
            <a:pPr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&amp; Baseline FxLMS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657600"/>
            <a:ext cx="987552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CE6EF"/>
                </a:solidFill>
                <a:latin typeface="Aptos"/>
              </a:defRPr>
            </a:pPr>
            <a:r>
              <a:t>Active Noise Cancellation • Dataset Generation • Baseline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07492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Class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1. Objective and ANC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31520" cy="502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What Part 1 builds and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C7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8491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846320" cy="10972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9304E"/>
                </a:solidFill>
                <a:latin typeface="Aptos"/>
              </a:defRPr>
            </a:pPr>
            <a:r>
              <a:t>Build a simulated acoustic environment, validate FxLMS, and establish a baseline for faster adaptation methods.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00200"/>
            <a:ext cx="1828800" cy="105156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1" y="1746504"/>
            <a:ext cx="14996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Primary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1" y="2167128"/>
            <a:ext cx="1499616" cy="39319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303B"/>
                </a:solidFill>
                <a:latin typeface="Aptos"/>
              </a:defRPr>
            </a:pPr>
            <a:r>
              <a:t>Unwanted noise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600200"/>
            <a:ext cx="1828800" cy="105156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1746504"/>
            <a:ext cx="14996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Error mic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2167128"/>
            <a:ext cx="1499616" cy="39319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303B"/>
                </a:solidFill>
                <a:latin typeface="Aptos"/>
              </a:defRPr>
            </a:pPr>
            <a:r>
              <a:t>Measures residual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82127" y="2121408"/>
            <a:ext cx="850393" cy="0"/>
          </a:xfrm>
          <a:prstGeom prst="line">
            <a:avLst/>
          </a:prstGeom>
          <a:ln w="2540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0" y="3657600"/>
            <a:ext cx="2011680" cy="1097280"/>
          </a:xfrm>
          <a:prstGeom prst="roundRect">
            <a:avLst/>
          </a:prstGeom>
          <a:solidFill>
            <a:srgbClr val="FFF6E8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3803904"/>
            <a:ext cx="16824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18930"/>
                </a:solidFill>
                <a:latin typeface="Aptos"/>
              </a:defRPr>
            </a:pPr>
            <a:r>
              <a:t>Secondary speaker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4224528"/>
            <a:ext cx="1682496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5303B"/>
                </a:solidFill>
                <a:latin typeface="Aptos"/>
              </a:defRPr>
            </a:pPr>
            <a:r>
              <a:t>Produces anti-noise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321040" y="2697480"/>
            <a:ext cx="1097280" cy="960120"/>
          </a:xfrm>
          <a:prstGeom prst="line">
            <a:avLst/>
          </a:prstGeom>
          <a:ln w="25400">
            <a:solidFill>
              <a:srgbClr val="E18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35040" y="5074920"/>
            <a:ext cx="53035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9304E"/>
                </a:solidFill>
                <a:latin typeface="Aptos"/>
              </a:defRPr>
            </a:pPr>
            <a:r>
              <a:t>Residual error:  e(n) = d(n) + yₛ(n)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596128"/>
            <a:ext cx="53035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D6C79"/>
                </a:solidFill>
                <a:latin typeface="Aptos"/>
              </a:defRPr>
            </a:pPr>
            <a:r>
              <a:t>Objective: minimize mean-square error  E[e²(n)]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2. Acoustic room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31520" cy="502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Simulation parameters based on the stated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C7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937760" cy="137160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2224"/>
            <a:ext cx="46085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12848"/>
            <a:ext cx="4608576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5303B"/>
                </a:solidFill>
                <a:latin typeface="Aptos"/>
              </a:defRPr>
            </a:pPr>
            <a:r>
              <a:t>6 × 6.2 × 3 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493776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792224"/>
            <a:ext cx="46085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Sampling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212848"/>
            <a:ext cx="4608576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5303B"/>
                </a:solidFill>
                <a:latin typeface="Aptos"/>
              </a:defRPr>
            </a:pPr>
            <a:r>
              <a:t>16 kHz</a:t>
            </a:r>
          </a:p>
          <a:p>
            <a:pPr>
              <a:spcAft>
                <a:spcPts val="700"/>
              </a:spcAft>
              <a:defRPr sz="1800" b="0">
                <a:solidFill>
                  <a:srgbClr val="25303B"/>
                </a:solidFill>
                <a:latin typeface="Aptos"/>
              </a:defRPr>
            </a:pPr>
            <a:r>
              <a:t>62.5 μs per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4937760" cy="137160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621024"/>
            <a:ext cx="46085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RT60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041648"/>
            <a:ext cx="4608576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5303B"/>
                </a:solidFill>
                <a:latin typeface="Aptos"/>
              </a:defRPr>
            </a:pPr>
            <a:r>
              <a:t>0.15 s</a:t>
            </a:r>
          </a:p>
          <a:p>
            <a:pPr>
              <a:spcAft>
                <a:spcPts val="700"/>
              </a:spcAft>
              <a:defRPr sz="1800" b="0">
                <a:solidFill>
                  <a:srgbClr val="25303B"/>
                </a:solidFill>
                <a:latin typeface="Aptos"/>
              </a:defRPr>
            </a:pPr>
            <a:r>
              <a:t>Short reverberation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493776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621024"/>
            <a:ext cx="46085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Impulse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041648"/>
            <a:ext cx="4608576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5303B"/>
                </a:solidFill>
                <a:latin typeface="Aptos"/>
              </a:defRPr>
            </a:pPr>
            <a:r>
              <a:t>512 taps = 32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9304E"/>
                </a:solidFill>
                <a:latin typeface="Aptos"/>
              </a:defRPr>
            </a:pPr>
            <a:r>
              <a:t>Room reflections are modelled using the Image-Source Method (ISM).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3. Sources and acoustic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31520" cy="502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Only the primary source moves; speaker and microphone stay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C7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291840" cy="132588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55063"/>
            <a:ext cx="29626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Primary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2962656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03B"/>
                </a:solidFill>
                <a:latin typeface="Aptos"/>
              </a:defRPr>
            </a:pPr>
            <a:r>
              <a:t>[1.5, 1, 1] → [3, 2, 2] m</a:t>
            </a:r>
          </a:p>
          <a:p>
            <a:pPr>
              <a:spcAft>
                <a:spcPts val="700"/>
              </a:spcAft>
              <a:defRPr sz="1600" b="0">
                <a:solidFill>
                  <a:srgbClr val="25303B"/>
                </a:solidFill>
                <a:latin typeface="Aptos"/>
              </a:defRPr>
            </a:pPr>
            <a:r>
              <a:t>2,048 positions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1325880"/>
          </a:xfrm>
          <a:prstGeom prst="roundRect">
            <a:avLst/>
          </a:prstGeom>
          <a:solidFill>
            <a:srgbClr val="FFF6E8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655063"/>
            <a:ext cx="29626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18930"/>
                </a:solidFill>
                <a:latin typeface="Aptos"/>
              </a:defRPr>
            </a:pPr>
            <a:r>
              <a:t>Secondary speaker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075688"/>
            <a:ext cx="2962656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03B"/>
                </a:solidFill>
                <a:latin typeface="Aptos"/>
              </a:defRPr>
            </a:pPr>
            <a:r>
              <a:t>[3, 2.5, 1.5] m</a:t>
            </a:r>
          </a:p>
          <a:p>
            <a:pPr>
              <a:spcAft>
                <a:spcPts val="700"/>
              </a:spcAft>
              <a:defRPr sz="1600" b="0">
                <a:solidFill>
                  <a:srgbClr val="25303B"/>
                </a:solidFill>
                <a:latin typeface="Aptos"/>
              </a:defRPr>
            </a:pPr>
            <a:r>
              <a:t>Fixed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291840" cy="132588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55063"/>
            <a:ext cx="29626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Error microphone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962656" cy="667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03B"/>
                </a:solidFill>
                <a:latin typeface="Aptos"/>
              </a:defRPr>
            </a:pPr>
            <a:r>
              <a:t>[4.5, 3, 1.5] m</a:t>
            </a:r>
          </a:p>
          <a:p>
            <a:pPr>
              <a:spcAft>
                <a:spcPts val="700"/>
              </a:spcAft>
              <a:defRPr sz="1600" b="0">
                <a:solidFill>
                  <a:srgbClr val="25303B"/>
                </a:solidFill>
                <a:latin typeface="Aptos"/>
              </a:defRPr>
            </a:pPr>
            <a:r>
              <a:t>Fixed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5760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008491"/>
                </a:solidFill>
                <a:latin typeface="Aptos"/>
              </a:defRPr>
            </a:pPr>
            <a:r>
              <a:t>Primary path 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301752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25303B"/>
                </a:solidFill>
                <a:latin typeface="Aptos"/>
              </a:defRPr>
            </a:pPr>
            <a:r>
              <a:t>Noise source → microphone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65760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E18930"/>
                </a:solidFill>
                <a:latin typeface="Aptos"/>
              </a:defRPr>
            </a:pPr>
            <a:r>
              <a:t>Secondary path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29260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25303B"/>
                </a:solidFill>
                <a:latin typeface="Aptos"/>
              </a:defRPr>
            </a:pPr>
            <a:r>
              <a:t>Speaker → microphone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703320"/>
            <a:ext cx="32004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9304E"/>
                </a:solidFill>
                <a:latin typeface="Aptos"/>
              </a:defRPr>
            </a:pPr>
            <a:r>
              <a:t>Model assumption:  Ĝ = 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160520"/>
            <a:ext cx="32004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5D6C79"/>
                </a:solidFill>
                <a:latin typeface="Aptos"/>
              </a:defRPr>
            </a:pPr>
            <a:r>
              <a:t>Perfect secondary-path estimate in this experiment.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D6C79"/>
                </a:solidFill>
                <a:latin typeface="Aptos"/>
              </a:defRPr>
            </a:pPr>
            <a:r>
              <a:t>P: primary acoustic path     G: physical secondary path     Ĝ: estimated secondary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4. How FxLMS cancels noise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31520" cy="502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The algorithm accounts for the secondary speaker-to-microphone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C7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108960" cy="105156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0784"/>
            <a:ext cx="27797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Reference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2779776" cy="39319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5303B"/>
                </a:solidFill>
                <a:latin typeface="Aptos"/>
              </a:defRPr>
            </a:pPr>
            <a:r>
              <a:t>x(n): white Gaussian noise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54480"/>
            <a:ext cx="3108960" cy="1051560"/>
          </a:xfrm>
          <a:prstGeom prst="roundRect">
            <a:avLst/>
          </a:prstGeom>
          <a:solidFill>
            <a:srgbClr val="F7F9FB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700784"/>
            <a:ext cx="27797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Adaptive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121408"/>
            <a:ext cx="2779776" cy="39319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03B"/>
                </a:solidFill>
                <a:latin typeface="Aptos"/>
              </a:defRPr>
            </a:pPr>
            <a:r>
              <a:t>y(n) = wᵀ(n)x(n)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108960" cy="105156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700784"/>
            <a:ext cx="277977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Microphone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21408"/>
            <a:ext cx="2779776" cy="39319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5303B"/>
                </a:solidFill>
                <a:latin typeface="Aptos"/>
              </a:defRPr>
            </a:pPr>
            <a:r>
              <a:t>e(n) = d(n) + G*y(n)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2084831"/>
            <a:ext cx="640080" cy="0"/>
          </a:xfrm>
          <a:prstGeom prst="line">
            <a:avLst/>
          </a:prstGeom>
          <a:ln w="2540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35240" y="2084831"/>
            <a:ext cx="640080" cy="0"/>
          </a:xfrm>
          <a:prstGeom prst="line">
            <a:avLst/>
          </a:prstGeom>
          <a:ln w="25400">
            <a:solidFill>
              <a:srgbClr val="0084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3246120"/>
            <a:ext cx="50292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9304E"/>
                </a:solidFill>
                <a:latin typeface="Aptos"/>
              </a:defRPr>
            </a:pPr>
            <a:r>
              <a:t>Primary signal:  d(n) = P * x(n)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585216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9304E"/>
                </a:solidFill>
                <a:latin typeface="Aptos"/>
              </a:defRPr>
            </a:pPr>
            <a:r>
              <a:t>Filtered reference:  x_f(n) = Ĝ * x(n)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246120"/>
            <a:ext cx="292608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8491"/>
                </a:solidFill>
                <a:latin typeface="Aptos"/>
              </a:defRPr>
            </a:pPr>
            <a:r>
              <a:t>Simplified update: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703320"/>
            <a:ext cx="46634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9304E"/>
                </a:solidFill>
                <a:latin typeface="Aptos"/>
              </a:defRPr>
            </a:pPr>
            <a:r>
              <a:t>w(n+1) = w(n) + μ e(n) x_f(n)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572000"/>
            <a:ext cx="4754880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D6C79"/>
                </a:solidFill>
                <a:latin typeface="Aptos"/>
              </a:defRPr>
            </a:pPr>
            <a:r>
              <a:t>Your implementation uses a normalized, block-averaged update (Eq. 4).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53035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18930"/>
                </a:solidFill>
                <a:latin typeface="Aptos"/>
              </a:defRPr>
            </a:pPr>
            <a:r>
              <a:t>μ controls adaptation speed and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5. Pipeline and dataset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31520" cy="502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From acoustic paths to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C7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1234440"/>
          </a:xfrm>
          <a:prstGeom prst="roundRect">
            <a:avLst/>
          </a:prstGeom>
          <a:solidFill>
            <a:srgbClr val="EBF4F6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0992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08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304E"/>
                </a:solidFill>
                <a:latin typeface="Aptos"/>
              </a:defRPr>
            </a:pPr>
            <a:r>
              <a:t>ism.py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224028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03B"/>
                </a:solidFill>
                <a:latin typeface="Aptos"/>
              </a:defRPr>
            </a:pPr>
            <a:r>
              <a:t>Room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00200"/>
            <a:ext cx="25146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70992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08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69164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304E"/>
                </a:solidFill>
                <a:latin typeface="Aptos"/>
              </a:defRPr>
            </a:pPr>
            <a:r>
              <a:t>build_paths.py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130552"/>
            <a:ext cx="224028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03B"/>
                </a:solidFill>
                <a:latin typeface="Aptos"/>
              </a:defRPr>
            </a:pPr>
            <a:r>
              <a:t>P, G, Ĝ, positions, Wiener filters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2514600" cy="1234440"/>
          </a:xfrm>
          <a:prstGeom prst="roundRect">
            <a:avLst/>
          </a:prstGeom>
          <a:solidFill>
            <a:srgbClr val="EBF4F6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70992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08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69164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304E"/>
                </a:solidFill>
                <a:latin typeface="Aptos"/>
              </a:defRPr>
            </a:pPr>
            <a:r>
              <a:t>tests.py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30552"/>
            <a:ext cx="224028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03B"/>
                </a:solidFill>
                <a:latin typeface="Aptos"/>
              </a:defRPr>
            </a:pPr>
            <a:r>
              <a:t>Validate fast FxLMS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00200"/>
            <a:ext cx="25146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7" y="170992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08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69164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304E"/>
                </a:solidFill>
                <a:latin typeface="Aptos"/>
              </a:defRPr>
            </a:pPr>
            <a:r>
              <a:t>sweep_mu.py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30552"/>
            <a:ext cx="224028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03B"/>
                </a:solidFill>
                <a:latin typeface="Aptos"/>
              </a:defRPr>
            </a:pPr>
            <a:r>
              <a:t>Find stable step sizes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520440"/>
            <a:ext cx="2514600" cy="1234440"/>
          </a:xfrm>
          <a:prstGeom prst="roundRect">
            <a:avLst/>
          </a:prstGeom>
          <a:solidFill>
            <a:srgbClr val="EBF4F6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63016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08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61188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304E"/>
                </a:solidFill>
                <a:latin typeface="Aptos"/>
              </a:defRPr>
            </a:pPr>
            <a:r>
              <a:t>make_dataset.py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50791"/>
            <a:ext cx="224028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03B"/>
                </a:solidFill>
                <a:latin typeface="Aptos"/>
              </a:defRPr>
            </a:pPr>
            <a:r>
              <a:t>Generate converged filters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520440"/>
            <a:ext cx="251460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363016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08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61188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304E"/>
                </a:solidFill>
                <a:latin typeface="Aptos"/>
              </a:defRPr>
            </a:pPr>
            <a:r>
              <a:t>run_part1.py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79" y="4050791"/>
            <a:ext cx="224028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03B"/>
                </a:solidFill>
                <a:latin typeface="Aptos"/>
              </a:defRPr>
            </a:pPr>
            <a:r>
              <a:t>50-trial experiments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520440"/>
            <a:ext cx="2514600" cy="1234440"/>
          </a:xfrm>
          <a:prstGeom prst="roundRect">
            <a:avLst/>
          </a:prstGeom>
          <a:solidFill>
            <a:srgbClr val="EBF4F6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630168"/>
            <a:ext cx="320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0849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61188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9304E"/>
                </a:solidFill>
                <a:latin typeface="Aptos"/>
              </a:defRPr>
            </a:pPr>
            <a:r>
              <a:t>make_figures.py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50791"/>
            <a:ext cx="224028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5303B"/>
                </a:solidFill>
                <a:latin typeface="Aptos"/>
              </a:defRPr>
            </a:pPr>
            <a:r>
              <a:t>Plots and PCA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5D6C79"/>
                </a:solidFill>
                <a:latin typeface="Aptos"/>
              </a:defRPr>
            </a:pPr>
            <a:r>
              <a:t>Shipped outputs allow Part 2 and Part 3 to start without rerunning the full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6. What the filter dataset tells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31520" cy="502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W.npy stores the converged filter for each source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C7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291840" cy="123444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55063"/>
            <a:ext cx="29626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Dataset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2962656" cy="5760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5303B"/>
                </a:solidFill>
                <a:latin typeface="Aptos"/>
              </a:defRPr>
            </a:pPr>
            <a:r>
              <a:t>2,048 × 512</a:t>
            </a:r>
          </a:p>
          <a:p>
            <a:pPr>
              <a:spcAft>
                <a:spcPts val="700"/>
              </a:spcAft>
              <a:defRPr sz="1800" b="0">
                <a:solidFill>
                  <a:srgbClr val="25303B"/>
                </a:solidFill>
                <a:latin typeface="Aptos"/>
              </a:defRPr>
            </a:pPr>
            <a:r>
              <a:t>float32 ≈ 4 MiB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655063"/>
            <a:ext cx="29626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Global PCA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075688"/>
            <a:ext cx="2962656" cy="5760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81 components → 99%</a:t>
            </a:r>
          </a:p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32 components → 61%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291840" cy="123444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55063"/>
            <a:ext cx="296265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Local PCA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075688"/>
            <a:ext cx="2962656" cy="5760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3 components → 99%</a:t>
            </a:r>
          </a:p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64 neighbouring positions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849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10424160" cy="214884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5303B"/>
                </a:solidFill>
                <a:latin typeface="Aptos"/>
              </a:defRPr>
            </a:pPr>
            <a:r>
              <a:t>•  The main arrival tap shifts by about 82 samples along the path.</a:t>
            </a:r>
          </a:p>
          <a:p>
            <a:pPr>
              <a:spcAft>
                <a:spcPts val="800"/>
              </a:spcAft>
              <a:defRPr sz="1700">
                <a:solidFill>
                  <a:srgbClr val="25303B"/>
                </a:solidFill>
                <a:latin typeface="Aptos"/>
              </a:defRPr>
            </a:pPr>
            <a:r>
              <a:t>•  Neighbouring filters are about 20× closer than random pairs.</a:t>
            </a:r>
          </a:p>
          <a:p>
            <a:pPr>
              <a:spcAft>
                <a:spcPts val="800"/>
              </a:spcAft>
              <a:defRPr sz="1700">
                <a:solidFill>
                  <a:srgbClr val="25303B"/>
                </a:solidFill>
                <a:latin typeface="Aptos"/>
              </a:defRPr>
            </a:pPr>
            <a:r>
              <a:t>•  Filters are locally low-dimensional, but the full path forms a curved global manifold.</a:t>
            </a:r>
          </a:p>
          <a:p>
            <a:pPr>
              <a:spcAft>
                <a:spcPts val="800"/>
              </a:spcAft>
              <a:defRPr sz="1700">
                <a:solidFill>
                  <a:srgbClr val="25303B"/>
                </a:solidFill>
                <a:latin typeface="Aptos"/>
              </a:defRPr>
            </a:pPr>
            <a:r>
              <a:t>•  This structure may help a future method adapt faster by exploiting nearby filters.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7. Validation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31520" cy="502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Two checks build confidence in the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C7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029200" cy="1874519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46504"/>
            <a:ext cx="47000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Implementation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4700016" cy="121615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Vectorized block FxLMS matches a sample-wise reference to 2 × 10⁻¹⁶.</a:t>
            </a:r>
          </a:p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This is near double-precision numerical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029200" cy="1874519"/>
          </a:xfrm>
          <a:prstGeom prst="roundRect">
            <a:avLst/>
          </a:prstGeom>
          <a:solidFill>
            <a:srgbClr val="F7F9FB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746504"/>
            <a:ext cx="47000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Wiener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67128"/>
            <a:ext cx="4700016" cy="1216151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FxLMS attenuation: 15.7 dB</a:t>
            </a:r>
          </a:p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Wiener optimum: 15.8 dB</a:t>
            </a:r>
          </a:p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Median relative filter distance: 3.2%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849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1024128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9304E"/>
                </a:solidFill>
                <a:latin typeface="Aptos"/>
              </a:defRPr>
            </a:pPr>
            <a:r>
              <a:t>The implementation reproduces the reference algorithm and converges close to the best linear solution under the stated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8. Baseline experiment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31520" cy="502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Measure initial learning and recovery after the source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C7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3200400" cy="118872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9344"/>
            <a:ext cx="28712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Trials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29968"/>
            <a:ext cx="2871216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5303B"/>
                </a:solidFill>
                <a:latin typeface="Aptos"/>
              </a:defRPr>
            </a:pPr>
            <a:r>
              <a:t>50 independent trials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200400" cy="1188720"/>
          </a:xfrm>
          <a:prstGeom prst="roundRect">
            <a:avLst/>
          </a:prstGeom>
          <a:solidFill>
            <a:srgbClr val="F7F9FB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609344"/>
            <a:ext cx="28712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029968"/>
            <a:ext cx="2871216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400 blocks × 100 samples</a:t>
            </a:r>
          </a:p>
          <a:p>
            <a:pPr>
              <a:spcAft>
                <a:spcPts val="700"/>
              </a:spcAft>
              <a:defRPr sz="1700" b="0">
                <a:solidFill>
                  <a:srgbClr val="25303B"/>
                </a:solidFill>
                <a:latin typeface="Aptos"/>
              </a:defRPr>
            </a:pPr>
            <a:r>
              <a:t>6.25 ms per block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63040"/>
            <a:ext cx="3200400" cy="118872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609344"/>
            <a:ext cx="28712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Source jump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029968"/>
            <a:ext cx="2871216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5303B"/>
                </a:solidFill>
                <a:latin typeface="Aptos"/>
              </a:defRPr>
            </a:pPr>
            <a:r>
              <a:t>At block 100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840480"/>
            <a:ext cx="9875520" cy="0"/>
          </a:xfrm>
          <a:prstGeom prst="line">
            <a:avLst/>
          </a:prstGeom>
          <a:ln w="38100">
            <a:solidFill>
              <a:srgbClr val="19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05839" y="3749039"/>
            <a:ext cx="182880" cy="182880"/>
          </a:xfrm>
          <a:prstGeom prst="ellipse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19" y="411480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9304E"/>
                </a:solidFill>
                <a:latin typeface="Aptos"/>
              </a:defRPr>
            </a:pPr>
            <a:r>
              <a:t>Block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19" y="4462272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9" name="Oval 18"/>
          <p:cNvSpPr/>
          <p:nvPr/>
        </p:nvSpPr>
        <p:spPr>
          <a:xfrm>
            <a:off x="3566160" y="3749039"/>
            <a:ext cx="182880" cy="182880"/>
          </a:xfrm>
          <a:prstGeom prst="ellipse">
            <a:avLst/>
          </a:prstGeom>
          <a:solidFill>
            <a:srgbClr val="E1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411480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9304E"/>
                </a:solidFill>
                <a:latin typeface="Aptos"/>
              </a:defRPr>
            </a:pPr>
            <a:r>
              <a:t>Block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462272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Source jumps</a:t>
            </a:r>
          </a:p>
        </p:txBody>
      </p:sp>
      <p:sp>
        <p:nvSpPr>
          <p:cNvPr id="22" name="Oval 21"/>
          <p:cNvSpPr/>
          <p:nvPr/>
        </p:nvSpPr>
        <p:spPr>
          <a:xfrm>
            <a:off x="10881360" y="3749039"/>
            <a:ext cx="182880" cy="182880"/>
          </a:xfrm>
          <a:prstGeom prst="ellipse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411480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9304E"/>
                </a:solidFill>
                <a:latin typeface="Aptos"/>
              </a:defRPr>
            </a:pPr>
            <a:r>
              <a:t>Block 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4462272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9496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5303B"/>
                </a:solidFill>
                <a:latin typeface="Aptos"/>
              </a:defRPr>
            </a:pPr>
            <a:r>
              <a:t>Convergence threshold: ρ = 0.4  •  Steady-state error: last 40 blocks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9. Step-size sweep: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31520" cy="502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Mean convergence time ± standard deviation; attenuation in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C79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600200"/>
          <a:ext cx="10607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383280"/>
                <a:gridCol w="3108960"/>
                <a:gridCol w="2834640"/>
              </a:tblGrid>
              <a:tr h="586740"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μ</a:t>
                      </a:r>
                    </a:p>
                  </a:txBody>
                  <a:tcPr marL="73152" marR="54864" marT="36576" marB="36576" anchor="ctr">
                    <a:solidFill>
                      <a:srgbClr val="1930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Initial convergence</a:t>
                      </a:r>
                    </a:p>
                  </a:txBody>
                  <a:tcPr marL="73152" marR="54864" marT="36576" marB="36576" anchor="ctr">
                    <a:solidFill>
                      <a:srgbClr val="1930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After jump</a:t>
                      </a:r>
                    </a:p>
                  </a:txBody>
                  <a:tcPr marL="73152" marR="54864" marT="36576" marB="36576" anchor="ctr">
                    <a:solidFill>
                      <a:srgbClr val="1930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Attenuation</a:t>
                      </a:r>
                    </a:p>
                  </a:txBody>
                  <a:tcPr marL="73152" marR="54864" marT="36576" marB="36576" anchor="ctr">
                    <a:solidFill>
                      <a:srgbClr val="19304E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279 ± 31 blocks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182 ± 17 blocks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13.6 ± 0.6 dB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195 ± 69 blocks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136 ± 15 blocks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15.5 ± 0.8 dB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115 ± 62 blocks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100 ± 13 blocks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15.5 ± 0.8 dB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32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70 ± 37 blocks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73 ± 16 blocks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14.7 ± 2.0 dB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48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Diverges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Diverges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5303B"/>
                          </a:solidFill>
                          <a:latin typeface="Aptos"/>
                        </a:defRPr>
                      </a:pPr>
                      <a:r>
                        <a:t>Unstable</a:t>
                      </a:r>
                    </a:p>
                  </a:txBody>
                  <a:tcPr marL="73152" marR="54864" marT="36576" marB="36576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440680"/>
            <a:ext cx="4983480" cy="77724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586984"/>
            <a:ext cx="46542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Fastest stable tested 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6007608"/>
            <a:ext cx="4654296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5303B"/>
                </a:solidFill>
                <a:latin typeface="Aptos"/>
              </a:defRPr>
            </a:pPr>
            <a:r>
              <a:t>μ =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4983480" cy="777240"/>
          </a:xfrm>
          <a:prstGeom prst="roundRect">
            <a:avLst/>
          </a:prstGeom>
          <a:solidFill>
            <a:srgbClr val="F7F9FB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5586984"/>
            <a:ext cx="465429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Best attenuation among stable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6007608"/>
            <a:ext cx="4654296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5303B"/>
                </a:solidFill>
                <a:latin typeface="Aptos"/>
              </a:defRPr>
            </a:pPr>
            <a:r>
              <a:t>μ = 16 or 24 (15.5 dB)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9304E"/>
                </a:solidFill>
                <a:latin typeface="Aptos"/>
              </a:defRPr>
            </a:pPr>
            <a:r>
              <a:t>10. Important limitation: attenuation ceiling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731520" cy="502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D6C79"/>
                </a:solidFill>
                <a:latin typeface="Aptos"/>
              </a:defRPr>
            </a:pPr>
            <a:r>
              <a:t>Why the result differs from the paper's reported ≈37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5D6C7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20040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00784"/>
            <a:ext cx="28712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304E"/>
                </a:solidFill>
                <a:latin typeface="Aptos"/>
              </a:defRPr>
            </a:pPr>
            <a:r>
              <a:t>Reported paper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21408"/>
            <a:ext cx="2871216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400" b="0">
                <a:solidFill>
                  <a:srgbClr val="25303B"/>
                </a:solidFill>
                <a:latin typeface="Aptos"/>
              </a:defRPr>
            </a:pPr>
            <a:r>
              <a:t>≈37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200400" cy="1371600"/>
          </a:xfrm>
          <a:prstGeom prst="roundRect">
            <a:avLst/>
          </a:prstGeom>
          <a:solidFill>
            <a:srgbClr val="EBF4F6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00784"/>
            <a:ext cx="28712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08491"/>
                </a:solidFill>
                <a:latin typeface="Aptos"/>
              </a:defRPr>
            </a:pPr>
            <a:r>
              <a:t>Our Wiener optimum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21408"/>
            <a:ext cx="2871216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25303B"/>
                </a:solidFill>
                <a:latin typeface="Aptos"/>
              </a:defRPr>
            </a:pPr>
            <a:r>
              <a:t>≈15.8 dB median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54480"/>
            <a:ext cx="3200400" cy="1371600"/>
          </a:xfrm>
          <a:prstGeom prst="roundRect">
            <a:avLst/>
          </a:prstGeom>
          <a:solidFill>
            <a:srgbClr val="FFF6E8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700784"/>
            <a:ext cx="2871216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18930"/>
                </a:solidFill>
                <a:latin typeface="Aptos"/>
              </a:defRPr>
            </a:pPr>
            <a:r>
              <a:t>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121408"/>
            <a:ext cx="2871216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25303B"/>
                </a:solidFill>
                <a:latin typeface="Aptos"/>
              </a:defRPr>
            </a:pPr>
            <a:r>
              <a:t>≈21.2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10607040" cy="21031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5303B"/>
                </a:solidFill>
                <a:latin typeface="Aptos"/>
              </a:defRPr>
            </a:pPr>
            <a:r>
              <a:t>•  512-tap responses are truncated; the secondary path includes a 74-sample delay.</a:t>
            </a:r>
          </a:p>
          <a:p>
            <a:pPr>
              <a:spcAft>
                <a:spcPts val="800"/>
              </a:spcAft>
              <a:defRPr sz="1700">
                <a:solidFill>
                  <a:srgbClr val="25303B"/>
                </a:solidFill>
                <a:latin typeface="Aptos"/>
              </a:defRPr>
            </a:pPr>
            <a:r>
              <a:t>•  Some residual energy cannot be cancelled by the specified finite filter configuration.</a:t>
            </a:r>
          </a:p>
          <a:p>
            <a:pPr>
              <a:spcAft>
                <a:spcPts val="800"/>
              </a:spcAft>
              <a:defRPr sz="1700">
                <a:solidFill>
                  <a:srgbClr val="25303B"/>
                </a:solidFill>
                <a:latin typeface="Aptos"/>
              </a:defRPr>
            </a:pPr>
            <a:r>
              <a:t>•  Bandlimiting noise and tapering responses did not remove the discrepancy.</a:t>
            </a:r>
          </a:p>
          <a:p>
            <a:pPr>
              <a:spcAft>
                <a:spcPts val="800"/>
              </a:spcAft>
              <a:defRPr sz="1700">
                <a:solidFill>
                  <a:srgbClr val="25303B"/>
                </a:solidFill>
                <a:latin typeface="Aptos"/>
              </a:defRPr>
            </a:pPr>
            <a:r>
              <a:t>•  The exact cause is unresolved; the paper's full setup may differ in an unreported detail.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304E"/>
                </a:solidFill>
                <a:latin typeface="Aptos"/>
              </a:defRPr>
            </a:pPr>
            <a:r>
              <a:t>Keep comparisons fair: use the same acoustic model and evaluation method across algorithms.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78DC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399032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99032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E0E8F0"/>
                </a:solidFill>
                <a:latin typeface="Aptos"/>
              </a:defRPr>
            </a:pPr>
            <a:r>
              <a:t>Model the room and both acoustic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13432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78DC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295144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295144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E0E8F0"/>
                </a:solidFill>
                <a:latin typeface="Aptos"/>
              </a:defRPr>
            </a:pPr>
            <a:r>
              <a:t>Check the fast implementation and Wiener benchmark.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9544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78DC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191256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91256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E0E8F0"/>
                </a:solidFill>
                <a:latin typeface="Aptos"/>
              </a:defRPr>
            </a:pPr>
            <a:r>
              <a:t>Compare speed, stability, and attenuation across 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05656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78DC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087368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Exploit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87368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E0E8F0"/>
                </a:solidFill>
                <a:latin typeface="Aptos"/>
              </a:defRPr>
            </a:pPr>
            <a:r>
              <a:t>Nearby positions produce similar filters.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01768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78DC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983480"/>
            <a:ext cx="21031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Set the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983480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E0E8F0"/>
                </a:solidFill>
                <a:latin typeface="Aptos"/>
              </a:defRPr>
            </a:pPr>
            <a:r>
              <a:t>μ = 32 is fastest among the tested stable settings.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78DCDC"/>
                </a:solidFill>
                <a:latin typeface="Aptos"/>
              </a:defRPr>
            </a:pPr>
            <a:r>
              <a:t>Part 1 creates the validated reference system for evaluating improvements in Part 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9304E"/>
                </a:solidFill>
                <a:latin typeface="Aptos"/>
              </a:defRPr>
            </a:pPr>
            <a:r>
              <a:t>Appendix A — Room, impulse responses &amp; frequency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658368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5D6C79"/>
                </a:solidFill>
                <a:latin typeface="Aptos"/>
              </a:defRPr>
            </a:pPr>
            <a:r>
              <a:t>Simulation geometry and acoustic paths at 16 kHz</a:t>
            </a:r>
          </a:p>
        </p:txBody>
      </p:sp>
      <p:pic>
        <p:nvPicPr>
          <p:cNvPr id="5" name="Picture 4" descr="fig1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937385"/>
            <a:ext cx="11109960" cy="38884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4652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D6C79"/>
                </a:solidFill>
                <a:latin typeface="Aptos"/>
              </a:defRPr>
            </a:pPr>
            <a:r>
              <a:t>Use this figure to explain the room geometry, the 512-tap responses, and how the paths differ by frequency.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D6C7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9304E"/>
                </a:solidFill>
                <a:latin typeface="Aptos"/>
              </a:defRPr>
            </a:pPr>
            <a:r>
              <a:t>Appendix B — Filter dataset &amp; PCA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658368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5D6C79"/>
                </a:solidFill>
                <a:latin typeface="Aptos"/>
              </a:defRPr>
            </a:pPr>
            <a:r>
              <a:t>2,048 converged filters; global versus local dimensionality</a:t>
            </a:r>
          </a:p>
        </p:txBody>
      </p:sp>
      <p:pic>
        <p:nvPicPr>
          <p:cNvPr id="5" name="Picture 4" descr="fig2_dataset_mani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937385"/>
            <a:ext cx="11109960" cy="38884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4652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D6C79"/>
                </a:solidFill>
                <a:latin typeface="Aptos"/>
              </a:defRPr>
            </a:pPr>
            <a:r>
              <a:t>Global PCA needs 81 components for 99% variance; locally, 3 components explain 99% across 64 neighbours.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D6C7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9304E"/>
                </a:solidFill>
                <a:latin typeface="Aptos"/>
              </a:defRPr>
            </a:pPr>
            <a:r>
              <a:t>Appendix C — Baseline FxLMS error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658368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5D6C79"/>
                </a:solidFill>
                <a:latin typeface="Aptos"/>
              </a:defRPr>
            </a:pPr>
            <a:r>
              <a:t>Mean squared error over 50 trials; source jumps at approximately 0.625 s</a:t>
            </a:r>
          </a:p>
        </p:txBody>
      </p:sp>
      <p:pic>
        <p:nvPicPr>
          <p:cNvPr id="5" name="Picture 4" descr="fig3_erro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676" y="1389888"/>
            <a:ext cx="9492342" cy="4983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4652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D6C79"/>
                </a:solidFill>
                <a:latin typeface="Aptos"/>
              </a:defRPr>
            </a:pPr>
            <a:r>
              <a:t>Faster step sizes generally settle sooner, while the source jump causes a temporary rise in residual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D6C79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9304E"/>
                </a:solidFill>
                <a:latin typeface="Aptos"/>
              </a:defRPr>
            </a:pPr>
            <a:r>
              <a:t>Appendix D — Step-size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41248"/>
            <a:ext cx="658368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50976"/>
            <a:ext cx="10972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5D6C79"/>
                </a:solidFill>
                <a:latin typeface="Aptos"/>
              </a:defRPr>
            </a:pPr>
            <a:r>
              <a:t>Convergence speed versus steady-state attenuation</a:t>
            </a:r>
          </a:p>
        </p:txBody>
      </p:sp>
      <p:pic>
        <p:nvPicPr>
          <p:cNvPr id="5" name="Picture 4" descr="fig4_stepsize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770735"/>
            <a:ext cx="11109960" cy="4221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46520"/>
            <a:ext cx="107899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D6C79"/>
                </a:solidFill>
                <a:latin typeface="Aptos"/>
              </a:defRPr>
            </a:pPr>
            <a:r>
              <a:t>μ = 32 is fastest among tested stable settings; μ = 16 and 24 achieve the highest reported attenuation.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5D6C79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