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tent FxLMS" id="{d7c3323c-b36b-bed3-dbbb-92160c96f9b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A3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A3C"/>
                </a:solidFill>
                <a:latin typeface="+mn-lt"/>
              </a:rPr>
              <a:t>Convergence time (blocks of 100 samples)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Data-normalized</c:v>
                </c:pt>
              </c:strCache>
            </c:strRef>
          </c:tx>
          <c:spPr>
            <a:solidFill>
              <a:srgbClr val="1C9A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A3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Unconstrained</c:v>
                  </c:pt>
                  <c:pt idx="1">
                    <c:v>InfoVAE</c:v>
                  </c:pt>
                  <c:pt idx="2">
                    <c:v>Mixup</c:v>
                  </c:pt>
                  <c:pt idx="3">
                    <c:v>VAE+mixup</c:v>
                  </c:pt>
                  <c:pt idx="4">
                    <c:v>InfoVAE+mixup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</c:v>
                </c:pt>
                <c:pt idx="1">
                  <c:v>64</c:v>
                </c:pt>
                <c:pt idx="2">
                  <c:v>16</c:v>
                </c:pt>
                <c:pt idx="3">
                  <c:v>21</c:v>
                </c:pt>
                <c:pt idx="4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Latent-normalized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A3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Unconstrained</c:v>
                  </c:pt>
                  <c:pt idx="1">
                    <c:v>InfoVAE</c:v>
                  </c:pt>
                  <c:pt idx="2">
                    <c:v>Mixup</c:v>
                  </c:pt>
                  <c:pt idx="3">
                    <c:v>VAE+mixup</c:v>
                  </c:pt>
                  <c:pt idx="4">
                    <c:v>InfoVAE+mixup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</c:v>
                </c:pt>
                <c:pt idx="1">
                  <c:v>32</c:v>
                </c:pt>
                <c:pt idx="2">
                  <c:v>10</c:v>
                </c:pt>
                <c:pt idx="3">
                  <c:v>24</c:v>
                </c:pt>
                <c:pt idx="4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2A3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A3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5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A3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2A3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paper: Sarkar et al., 2025. Goal: make active noise control adapt faster by searching a small latent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Superposition: speaker output g*w*x should equal minus p*x at the error microphone.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equations, then the vector picture: the update moves the weight vector against the gradient.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novelty: adapt in a 32-dim latent space; the decoder guarantees every candidate is a realistic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phases: offline training of the autoencoder on converged filters, then online latent updates using the decoder Jacobian.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concept to a topic from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mixup trains the autoencoder on convex combinations, which model intermediate filters. Right: Jacobian pushes the gradient into latent space; two normalization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are read from Fig. 7 of the paper, so say roughly. Best model: latent-normalized InfoVAE + mixup.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thread: noise source in a known region, speaker and error mic near the listener.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limits: only simulated data, assumes known region and static secondary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8C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Latent FxLMS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5394960" y="731520"/>
            <a:ext cx="3657600" cy="3657600"/>
          </a:xfrm>
          <a:prstGeom prst="ellipse">
            <a:avLst/>
          </a:prstGeom>
          <a:ln w="25400">
            <a:solidFill>
              <a:srgbClr val="1C9AA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52160" y="1188720"/>
            <a:ext cx="2743200" cy="2743200"/>
          </a:xfrm>
          <a:prstGeom prst="ellipse">
            <a:avLst/>
          </a:prstGeom>
          <a:ln w="25400">
            <a:solidFill>
              <a:srgbClr val="F2A3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09360" y="1645920"/>
            <a:ext cx="1828800" cy="1828800"/>
          </a:xfrm>
          <a:prstGeom prst="ellipse">
            <a:avLst/>
          </a:prstGeom>
          <a:ln w="25400">
            <a:solidFill>
              <a:srgbClr val="1C9AA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0" y="2103120"/>
            <a:ext cx="914400" cy="914400"/>
          </a:xfrm>
          <a:prstGeom prst="ellipse">
            <a:avLst/>
          </a:prstGeom>
          <a:ln w="25400">
            <a:solidFill>
              <a:srgbClr val="F2A3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14032" y="2450592"/>
            <a:ext cx="219456" cy="219456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743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active noise control with neural adaptive filters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0233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&amp; Systems course project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Sarkar, Lu, Mittal, Zhuang, Corey &amp; Singer (2025)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cancel noise at one spot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noise control plays anti-noise so the two sound fields add to zero at an error microphone.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 w must be learned on the fly, since rooms and sources change.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are LTI systems: P (noise to mic) and G (speaker to mic).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393192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 ∗ w ∗ x ≈ −p ∗ x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206240" y="1600200"/>
            <a:ext cx="0" cy="2194560"/>
          </a:xfrm>
          <a:prstGeom prst="line">
            <a:avLst/>
          </a:prstGeom>
          <a:noFill/>
          <a:ln w="19050">
            <a:solidFill>
              <a:srgbClr val="5B6B7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069080" y="1234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x[n]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06240" y="1600200"/>
            <a:ext cx="1005840" cy="0"/>
          </a:xfrm>
          <a:prstGeom prst="line">
            <a:avLst/>
          </a:prstGeom>
          <a:noFill/>
          <a:ln w="25400">
            <a:solidFill>
              <a:srgbClr val="0B2A3C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212080" y="137160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12080" y="1371600"/>
            <a:ext cx="7315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3600" y="1600200"/>
            <a:ext cx="1463040" cy="0"/>
          </a:xfrm>
          <a:prstGeom prst="line">
            <a:avLst/>
          </a:prstGeom>
          <a:noFill/>
          <a:ln w="19050">
            <a:solidFill>
              <a:srgbClr val="0B2A3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06640" y="1600200"/>
            <a:ext cx="0" cy="685800"/>
          </a:xfrm>
          <a:prstGeom prst="line">
            <a:avLst/>
          </a:prstGeom>
          <a:noFill/>
          <a:ln w="25400">
            <a:solidFill>
              <a:srgbClr val="0B2A3C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206240" y="2514600"/>
            <a:ext cx="457200" cy="0"/>
          </a:xfrm>
          <a:prstGeom prst="line">
            <a:avLst/>
          </a:prstGeom>
          <a:noFill/>
          <a:ln w="25400">
            <a:solidFill>
              <a:srgbClr val="0B2A3C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663440" y="228600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6344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303520" y="2514600"/>
            <a:ext cx="502920" cy="0"/>
          </a:xfrm>
          <a:prstGeom prst="line">
            <a:avLst/>
          </a:prstGeom>
          <a:noFill/>
          <a:ln w="25400">
            <a:solidFill>
              <a:srgbClr val="0B2A3C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806440" y="228600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1C9AA8"/>
          </a:solidFill>
          <a:ln w="12700">
            <a:solidFill>
              <a:srgbClr val="1C9AA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0644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46520" y="2514600"/>
            <a:ext cx="777240" cy="0"/>
          </a:xfrm>
          <a:prstGeom prst="line">
            <a:avLst/>
          </a:prstGeom>
          <a:noFill/>
          <a:ln w="25400">
            <a:solidFill>
              <a:srgbClr val="0B2A3C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223760" y="233172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3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22376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589520" y="2514600"/>
            <a:ext cx="822960" cy="0"/>
          </a:xfrm>
          <a:prstGeom prst="line">
            <a:avLst/>
          </a:prstGeom>
          <a:noFill/>
          <a:ln w="25400">
            <a:solidFill>
              <a:srgbClr val="0B2A3C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845820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206240" y="3794760"/>
            <a:ext cx="457200" cy="0"/>
          </a:xfrm>
          <a:prstGeom prst="line">
            <a:avLst/>
          </a:prstGeom>
          <a:noFill/>
          <a:ln w="25400">
            <a:solidFill>
              <a:srgbClr val="0B2A3C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663440" y="356616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124E66"/>
          </a:solidFill>
          <a:ln w="12700">
            <a:solidFill>
              <a:srgbClr val="124E6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663440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Ĝ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212080" y="3794760"/>
            <a:ext cx="365760" cy="0"/>
          </a:xfrm>
          <a:prstGeom prst="line">
            <a:avLst/>
          </a:prstGeom>
          <a:noFill/>
          <a:ln w="25400">
            <a:solidFill>
              <a:srgbClr val="0B2A3C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5577840" y="35661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124E66"/>
          </a:solidFill>
          <a:ln w="12700">
            <a:solidFill>
              <a:srgbClr val="124E6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577840" y="3566160"/>
            <a:ext cx="1188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update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 flipH="1" flipV="1">
            <a:off x="5029200" y="2743200"/>
            <a:ext cx="731520" cy="822960"/>
          </a:xfrm>
          <a:prstGeom prst="line">
            <a:avLst/>
          </a:prstGeom>
          <a:noFill/>
          <a:ln w="25400">
            <a:solidFill>
              <a:srgbClr val="F2A33A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8001000" y="2514600"/>
            <a:ext cx="0" cy="1280160"/>
          </a:xfrm>
          <a:prstGeom prst="line">
            <a:avLst/>
          </a:prstGeom>
          <a:noFill/>
          <a:ln w="19050">
            <a:solidFill>
              <a:srgbClr val="5B6B7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H="1">
            <a:off x="6766560" y="3794760"/>
            <a:ext cx="1234440" cy="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4206240" y="4206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 of FxLMS (error e feeds the update)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FxLMS: the baseline math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480560" cy="914400"/>
          </a:xfrm>
          <a:prstGeom prst="roundRect">
            <a:avLst>
              <a:gd name="adj" fmla="val 10000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371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at the microphone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p ∗ x + g ∗ w ∗ x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4480560" cy="914400"/>
          </a:xfrm>
          <a:prstGeom prst="roundRect">
            <a:avLst>
              <a:gd name="adj" fmla="val 10000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468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reference (estimated path)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743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x̂ₙ = ĝᵀxₙ = Σ ĝᵢ xₙ₋ᵢ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3474720"/>
            <a:ext cx="4480560" cy="914400"/>
          </a:xfrm>
          <a:prstGeom prst="roundRect">
            <a:avLst>
              <a:gd name="adj" fmla="val 10000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5661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LMS update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840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w[n] = w[n−1] − μ eₙ x̂ₙ / (ε + ‖x̂ₙ‖²)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03520" y="2011680"/>
            <a:ext cx="2926080" cy="1828800"/>
          </a:xfrm>
          <a:prstGeom prst="ellipse">
            <a:avLst/>
          </a:prstGeom>
          <a:ln w="19050">
            <a:solidFill>
              <a:srgbClr val="9CC9D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0" y="2286000"/>
            <a:ext cx="2011680" cy="1280160"/>
          </a:xfrm>
          <a:prstGeom prst="ellipse">
            <a:avLst/>
          </a:prstGeom>
          <a:ln w="19050">
            <a:solidFill>
              <a:srgbClr val="9CC9D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17920" y="2560320"/>
            <a:ext cx="1097280" cy="731520"/>
          </a:xfrm>
          <a:prstGeom prst="ellipse">
            <a:avLst/>
          </a:prstGeom>
          <a:ln w="19050">
            <a:solidFill>
              <a:srgbClr val="9CC9D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11696" y="2871216"/>
            <a:ext cx="109728" cy="109728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0" y="2971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w_opt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08392" y="2194560"/>
            <a:ext cx="128016" cy="128016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18120" y="23774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w[n−1]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 flipV="1">
            <a:off x="7772400" y="1892808"/>
            <a:ext cx="548640" cy="365760"/>
          </a:xfrm>
          <a:prstGeom prst="line">
            <a:avLst/>
          </a:prstGeom>
          <a:noFill/>
          <a:ln w="31750">
            <a:solidFill>
              <a:srgbClr val="D9534F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8321040" y="1645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 flipH="1">
            <a:off x="7086600" y="2258568"/>
            <a:ext cx="685800" cy="448056"/>
          </a:xfrm>
          <a:prstGeom prst="line">
            <a:avLst/>
          </a:prstGeom>
          <a:noFill/>
          <a:ln w="31750">
            <a:solidFill>
              <a:srgbClr val="1C9AA8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6492240" y="2148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−μ∇e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212080" y="4023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space ℝᴸ (L = 512): each step walks down the error surface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Novelty: adapt on the manifold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moves within a known region, so good filters lie on a low-dimensional manifold.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it with an autoencoder (512 → 32 → 512).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z, not w. The decoder D(z) always outputs a plausible filter.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combination of neural networks with ANC under moving sources.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 flipV="1">
            <a:off x="4572000" y="2736571"/>
            <a:ext cx="196596" cy="98069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768596" y="2643530"/>
            <a:ext cx="196596" cy="93040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4965192" y="2555519"/>
            <a:ext cx="196596" cy="88011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5161788" y="2472538"/>
            <a:ext cx="196596" cy="82982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5358384" y="2394585"/>
            <a:ext cx="196596" cy="77953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5554980" y="2321662"/>
            <a:ext cx="196596" cy="72923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5751576" y="2253767"/>
            <a:ext cx="196596" cy="67894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5948172" y="2190902"/>
            <a:ext cx="196596" cy="62865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144768" y="2133067"/>
            <a:ext cx="196596" cy="57836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6341364" y="2080260"/>
            <a:ext cx="196596" cy="52807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6537960" y="2032483"/>
            <a:ext cx="196596" cy="47777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6734556" y="1989734"/>
            <a:ext cx="196596" cy="42748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6931152" y="1952015"/>
            <a:ext cx="196596" cy="37719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7127748" y="1919326"/>
            <a:ext cx="196596" cy="32690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7324344" y="1891665"/>
            <a:ext cx="196596" cy="27661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7520940" y="1869034"/>
            <a:ext cx="196596" cy="22631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7717536" y="1851431"/>
            <a:ext cx="196596" cy="17602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7914132" y="1838858"/>
            <a:ext cx="196596" cy="12573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8110728" y="1831315"/>
            <a:ext cx="196596" cy="7544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8307324" y="1828800"/>
            <a:ext cx="196596" cy="2515"/>
          </a:xfrm>
          <a:prstGeom prst="line">
            <a:avLst/>
          </a:prstGeom>
          <a:noFill/>
          <a:ln w="38100">
            <a:solidFill>
              <a:srgbClr val="124E6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76656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4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D(Z): manifold of good filters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0" y="4023360"/>
            <a:ext cx="3931920" cy="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4944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(latent, k = 32)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390388" y="3950208"/>
            <a:ext cx="146304" cy="146304"/>
          </a:xfrm>
          <a:prstGeom prst="ellipse">
            <a:avLst/>
          </a:prstGeom>
          <a:solidFill>
            <a:srgbClr val="1C9AA8"/>
          </a:solidFill>
          <a:ln w="12700">
            <a:solidFill>
              <a:srgbClr val="1C9AA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69964" y="3950208"/>
            <a:ext cx="146304" cy="146304"/>
          </a:xfrm>
          <a:prstGeom prst="ellipse">
            <a:avLst/>
          </a:prstGeom>
          <a:solidFill>
            <a:srgbClr val="1C9AA8"/>
          </a:solidFill>
          <a:ln w="12700">
            <a:solidFill>
              <a:srgbClr val="1C9AA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1828" y="2321433"/>
            <a:ext cx="146304" cy="146304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661404" y="1959331"/>
            <a:ext cx="146304" cy="146304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5463540" y="2486025"/>
            <a:ext cx="91440" cy="1445895"/>
          </a:xfrm>
          <a:prstGeom prst="line">
            <a:avLst/>
          </a:prstGeom>
          <a:noFill/>
          <a:ln w="19050">
            <a:solidFill>
              <a:srgbClr val="0B2A3C"/>
            </a:solidFill>
            <a:prstDash val="dash"/>
            <a:tailEnd type="triangle"/>
          </a:ln>
        </p:spPr>
      </p:sp>
      <p:sp>
        <p:nvSpPr>
          <p:cNvPr id="33" name="Shape 30"/>
          <p:cNvSpPr/>
          <p:nvPr/>
        </p:nvSpPr>
        <p:spPr>
          <a:xfrm flipV="1">
            <a:off x="6643116" y="2123923"/>
            <a:ext cx="91440" cy="1807997"/>
          </a:xfrm>
          <a:prstGeom prst="line">
            <a:avLst/>
          </a:prstGeom>
          <a:noFill/>
          <a:ln w="19050">
            <a:solidFill>
              <a:srgbClr val="0B2A3C"/>
            </a:solidFill>
            <a:prstDash val="dash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5326380" y="4114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z₁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505956" y="4114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z₂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097780" y="2257425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825996" y="212392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W₂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554980" y="4023360"/>
            <a:ext cx="996696" cy="0"/>
          </a:xfrm>
          <a:prstGeom prst="line">
            <a:avLst/>
          </a:prstGeom>
          <a:noFill/>
          <a:ln w="38100">
            <a:solidFill>
              <a:srgbClr val="F2A33A"/>
            </a:solidFill>
            <a:prstDash val="solid"/>
            <a:tailEnd type="triangle"/>
          </a:ln>
        </p:spPr>
      </p:sp>
      <p:sp>
        <p:nvSpPr>
          <p:cNvPr id="39" name="Text 36"/>
          <p:cNvSpPr txBox="1"/>
          <p:nvPr/>
        </p:nvSpPr>
        <p:spPr>
          <a:xfrm>
            <a:off x="5189220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z₂ = z₁ − μ_z∇ₓe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 flipV="1">
            <a:off x="5554980" y="1708785"/>
            <a:ext cx="457200" cy="685800"/>
          </a:xfrm>
          <a:prstGeom prst="line">
            <a:avLst/>
          </a:prstGeom>
          <a:noFill/>
          <a:ln w="31750">
            <a:solidFill>
              <a:srgbClr val="D9534F"/>
            </a:solidFill>
            <a:prstDash val="solid"/>
            <a:tailEnd type="triangle"/>
          </a:ln>
        </p:spPr>
      </p:sp>
      <p:sp>
        <p:nvSpPr>
          <p:cNvPr id="41" name="Text 38"/>
          <p:cNvSpPr txBox="1"/>
          <p:nvPr/>
        </p:nvSpPr>
        <p:spPr>
          <a:xfrm>
            <a:off x="635508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step leaves manifold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4572000" y="1234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space ℝ⁵¹²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Latent FxLMS pipeline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4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Offline: learn the filter manifold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124E66"/>
          </a:solidFill>
          <a:ln w="12700">
            <a:solidFill>
              <a:srgbClr val="124E6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463040"/>
            <a:ext cx="13258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filters w (512 taps)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819656" y="1851660"/>
            <a:ext cx="292608" cy="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148840" y="146304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1C9AA8"/>
          </a:solidFill>
          <a:ln w="12700">
            <a:solidFill>
              <a:srgbClr val="1C9A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48840" y="1463040"/>
            <a:ext cx="13258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RFFT + Encoder 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11296" y="1851660"/>
            <a:ext cx="292608" cy="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840480" y="146304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40480" y="1463040"/>
            <a:ext cx="13258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z (32)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02936" y="1851660"/>
            <a:ext cx="292608" cy="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532120" y="146304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1C9AA8"/>
          </a:solidFill>
          <a:ln w="12700">
            <a:solidFill>
              <a:srgbClr val="1C9AA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32120" y="1463040"/>
            <a:ext cx="13258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94576" y="1851660"/>
            <a:ext cx="292608" cy="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223760" y="146304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124E66"/>
          </a:solidFill>
          <a:ln w="12700">
            <a:solidFill>
              <a:srgbClr val="124E6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23760" y="1463040"/>
            <a:ext cx="13258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filter ŵ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2468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4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Online: adapt only z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7200" y="278892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124E66"/>
          </a:solidFill>
          <a:ln w="12700">
            <a:solidFill>
              <a:srgbClr val="124E6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2788920"/>
            <a:ext cx="13258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eₙ and x̂ₙ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819656" y="3177540"/>
            <a:ext cx="292608" cy="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2148840" y="278892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148840" y="2788920"/>
            <a:ext cx="13258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eₙx̂ₙ (512-d)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511296" y="3177540"/>
            <a:ext cx="292608" cy="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3840480" y="278892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1C9AA8"/>
          </a:solidFill>
          <a:ln w="12700">
            <a:solidFill>
              <a:srgbClr val="1C9AA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840480" y="2788920"/>
            <a:ext cx="13258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Jacobian Υ (32×512)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202936" y="3177540"/>
            <a:ext cx="292608" cy="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5532120" y="278892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532120" y="2788920"/>
            <a:ext cx="13258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z (32-d)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894576" y="3177540"/>
            <a:ext cx="292608" cy="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7223760" y="278892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124E66"/>
          </a:solidFill>
          <a:ln w="12700">
            <a:solidFill>
              <a:srgbClr val="124E6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223760" y="2788920"/>
            <a:ext cx="13258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D(z) to speaker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7200" y="3931920"/>
            <a:ext cx="8092440" cy="685800"/>
          </a:xfrm>
          <a:prstGeom prst="roundRect">
            <a:avLst>
              <a:gd name="adj" fmla="val 13333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7200" y="3931920"/>
            <a:ext cx="8092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z[n] = z[n−1] − μ_z Υ(z[n−1]) (eₙ x̂ₙ)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 &amp; Systems concepts used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124E66"/>
          </a:solidFill>
          <a:ln w="12700">
            <a:solidFill>
              <a:srgbClr val="124E6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58877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1463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&amp; LTI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103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p∗x + g∗w∗x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68980" y="12801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451860" y="1463040"/>
            <a:ext cx="502920" cy="502920"/>
          </a:xfrm>
          <a:prstGeom prst="ellipse">
            <a:avLst/>
          </a:prstGeom>
          <a:solidFill>
            <a:srgbClr val="1C9AA8"/>
          </a:solidFill>
          <a:ln w="12700">
            <a:solidFill>
              <a:srgbClr val="1C9AA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590" y="158877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91940" y="1463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 response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451860" y="2103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filters, L = 512 taps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080760" y="12801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124E66"/>
          </a:solidFill>
          <a:ln w="12700">
            <a:solidFill>
              <a:srgbClr val="124E6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370" y="158877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03720" y="1463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263640" y="2103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Nyquist-sampled x[n], 16 kHz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57200" y="30175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1C9AA8"/>
          </a:solidFill>
          <a:ln w="12700">
            <a:solidFill>
              <a:srgbClr val="1C9AA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32613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3200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Causality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3840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must be farther than speaker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3268980" y="30175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451860" y="3200400"/>
            <a:ext cx="502920" cy="502920"/>
          </a:xfrm>
          <a:prstGeom prst="ellipse">
            <a:avLst/>
          </a:prstGeom>
          <a:solidFill>
            <a:srgbClr val="124E66"/>
          </a:solidFill>
          <a:ln w="12700">
            <a:solidFill>
              <a:srgbClr val="124E6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7590" y="3326130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091940" y="3200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3451860" y="3840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Anti-noise adds to cancel noise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080760" y="30175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263640" y="3200400"/>
            <a:ext cx="502920" cy="502920"/>
          </a:xfrm>
          <a:prstGeom prst="ellipse">
            <a:avLst/>
          </a:prstGeom>
          <a:solidFill>
            <a:srgbClr val="1C9AA8"/>
          </a:solidFill>
          <a:ln w="12700">
            <a:solidFill>
              <a:srgbClr val="1C9AA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370" y="3326130"/>
            <a:ext cx="251460" cy="25146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903720" y="3200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/ RFFT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6263640" y="3840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spectrum feeds the network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pictures of the key ideas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3931920" cy="3611880"/>
          </a:xfrm>
          <a:prstGeom prst="roundRect">
            <a:avLst>
              <a:gd name="adj" fmla="val 2532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4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Mixup: convex combination of filters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γw₁ + (1−γ)w₂,  γ ~ U[0,1]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 flipV="1">
            <a:off x="822960" y="2103120"/>
            <a:ext cx="457200" cy="2103120"/>
          </a:xfrm>
          <a:prstGeom prst="line">
            <a:avLst/>
          </a:prstGeom>
          <a:noFill/>
          <a:ln w="31750">
            <a:solidFill>
              <a:srgbClr val="124E66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 flipV="1">
            <a:off x="822960" y="2834640"/>
            <a:ext cx="2834640" cy="1371600"/>
          </a:xfrm>
          <a:prstGeom prst="line">
            <a:avLst/>
          </a:prstGeom>
          <a:noFill/>
          <a:ln w="31750">
            <a:solidFill>
              <a:srgbClr val="1C9AA8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 flipV="1">
            <a:off x="822960" y="2542032"/>
            <a:ext cx="1883664" cy="1664208"/>
          </a:xfrm>
          <a:prstGeom prst="line">
            <a:avLst/>
          </a:prstGeom>
          <a:noFill/>
          <a:ln w="31750">
            <a:solidFill>
              <a:srgbClr val="F2A33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1280160" y="2103120"/>
            <a:ext cx="2377440" cy="731520"/>
          </a:xfrm>
          <a:prstGeom prst="line">
            <a:avLst/>
          </a:prstGeom>
          <a:noFill/>
          <a:ln w="19050">
            <a:solidFill>
              <a:srgbClr val="5B6B75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768096" y="4151376"/>
            <a:ext cx="109728" cy="109728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2926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w₂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615184" y="2176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must reproduce the whole segment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17720" y="1143000"/>
            <a:ext cx="4069080" cy="3611880"/>
          </a:xfrm>
          <a:prstGeom prst="roundRect">
            <a:avLst>
              <a:gd name="adj" fmla="val 2532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0060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4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Jacobian maps gradient to latent space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800600" y="169164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9CC9D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086600" y="169164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9CC9D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4983480" y="2011680"/>
            <a:ext cx="1097280" cy="685800"/>
          </a:xfrm>
          <a:prstGeom prst="line">
            <a:avLst/>
          </a:prstGeom>
          <a:noFill/>
          <a:ln w="31750">
            <a:solidFill>
              <a:srgbClr val="D9534F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4846320" y="1737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ℝ⁵¹² gradient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 flipV="1">
            <a:off x="7269480" y="2240280"/>
            <a:ext cx="960120" cy="457200"/>
          </a:xfrm>
          <a:prstGeom prst="line">
            <a:avLst/>
          </a:prstGeom>
          <a:noFill/>
          <a:ln w="31750">
            <a:solidFill>
              <a:srgbClr val="1C9AA8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7132320" y="1737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ℝ³² gradient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309360" y="2240280"/>
            <a:ext cx="731520" cy="0"/>
          </a:xfrm>
          <a:prstGeom prst="line">
            <a:avLst/>
          </a:prstGeom>
          <a:noFill/>
          <a:ln w="31750">
            <a:solidFill>
              <a:srgbClr val="0B2A3C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6537960" y="1874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800600" y="306324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124E66"/>
          </a:solidFill>
          <a:ln w="12700">
            <a:solidFill>
              <a:srgbClr val="124E6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00600" y="3063240"/>
            <a:ext cx="36576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Data-norm: μ_z Υ(eₙx̂ₙ) / (‖x̂ₙ‖²+ε)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800600" y="384048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1C9AA8"/>
          </a:solidFill>
          <a:ln w="12700">
            <a:solidFill>
              <a:srgbClr val="1C9AA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00600" y="3840480"/>
            <a:ext cx="36576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Latent-norm: μ_z Υ(eₙx̂ₙ) / (‖Υx̂ₙ‖²+ε)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faster, same accuracy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6126480" y="118872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126480" y="1325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≈85 → ≈10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630936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to converge: FxLMS vs best latent model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126480" y="297180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124E66"/>
          </a:solidFill>
          <a:ln w="12700">
            <a:solidFill>
              <a:srgbClr val="124E6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26480" y="3108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≈37 dB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noise reduction; all models within 3 dB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7091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Sarkar et al. (2025), Fig. 7; bar heights read from the chart, approximate. FxLMS ≈ 85 blocks.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325880"/>
            <a:ext cx="685800" cy="685800"/>
          </a:xfrm>
          <a:prstGeom prst="ellipse">
            <a:avLst/>
          </a:prstGeom>
          <a:solidFill>
            <a:srgbClr val="124E66"/>
          </a:solidFill>
          <a:ln w="12700">
            <a:solidFill>
              <a:srgbClr val="124E6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1497330"/>
            <a:ext cx="342900" cy="3429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cabins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1325880" y="1618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Engine, road and tire noise at headrest speakers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663440" y="1325880"/>
            <a:ext cx="685800" cy="685800"/>
          </a:xfrm>
          <a:prstGeom prst="ellipse">
            <a:avLst/>
          </a:prstGeom>
          <a:solidFill>
            <a:srgbClr val="1C9AA8"/>
          </a:solidFill>
          <a:ln w="12700">
            <a:solidFill>
              <a:srgbClr val="1C9AA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1497330"/>
            <a:ext cx="342900" cy="3429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53212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Headphones &amp; earbuds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5532120" y="1618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re-adaptation as head or noise moves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2468880"/>
            <a:ext cx="685800" cy="685800"/>
          </a:xfrm>
          <a:prstGeom prst="ellipse">
            <a:avLst/>
          </a:prstGeom>
          <a:solidFill>
            <a:srgbClr val="124E66"/>
          </a:solidFill>
          <a:ln w="12700">
            <a:solidFill>
              <a:srgbClr val="124E6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640330"/>
            <a:ext cx="342900" cy="3429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2423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cabins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1325880" y="2761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Low-frequency propeller and engine drone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663440" y="2468880"/>
            <a:ext cx="685800" cy="685800"/>
          </a:xfrm>
          <a:prstGeom prst="ellipse">
            <a:avLst/>
          </a:prstGeom>
          <a:solidFill>
            <a:srgbClr val="1C9AA8"/>
          </a:solidFill>
          <a:ln w="12700">
            <a:solidFill>
              <a:srgbClr val="1C9AA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890" y="2640330"/>
            <a:ext cx="342900" cy="3429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532120" y="2423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&amp; offices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5532120" y="2761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 ducts, appliances, road noise at a window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" y="3611880"/>
            <a:ext cx="685800" cy="685800"/>
          </a:xfrm>
          <a:prstGeom prst="ellipse">
            <a:avLst/>
          </a:prstGeom>
          <a:solidFill>
            <a:srgbClr val="124E66"/>
          </a:solidFill>
          <a:ln w="12700">
            <a:solidFill>
              <a:srgbClr val="124E66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783330"/>
            <a:ext cx="342900" cy="3429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32588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booths</a:t>
            </a:r>
            <a:endParaRPr lang="en-US" sz="1700" dirty="0"/>
          </a:p>
        </p:txBody>
      </p:sp>
      <p:sp>
        <p:nvSpPr>
          <p:cNvPr id="23" name="Text 15"/>
          <p:cNvSpPr txBox="1"/>
          <p:nvPr/>
        </p:nvSpPr>
        <p:spPr>
          <a:xfrm>
            <a:off x="1325880" y="3904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Machinery at a known, constrained position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4663440" y="3611880"/>
            <a:ext cx="685800" cy="685800"/>
          </a:xfrm>
          <a:prstGeom prst="ellipse">
            <a:avLst/>
          </a:prstGeom>
          <a:solidFill>
            <a:srgbClr val="1C9AA8"/>
          </a:solidFill>
          <a:ln w="12700">
            <a:solidFill>
              <a:srgbClr val="1C9AA8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4890" y="3783330"/>
            <a:ext cx="342900" cy="3429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53212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vehicles</a:t>
            </a:r>
            <a:endParaRPr lang="en-US" sz="1700" dirty="0"/>
          </a:p>
        </p:txBody>
      </p:sp>
      <p:sp>
        <p:nvSpPr>
          <p:cNvPr id="27" name="Text 18"/>
          <p:cNvSpPr txBox="1"/>
          <p:nvPr/>
        </p:nvSpPr>
        <p:spPr>
          <a:xfrm>
            <a:off x="5532120" y="3904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moves along a known path, like the paper’s 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&amp; limitations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24E66"/>
          </a:solidFill>
          <a:ln w="12700">
            <a:solidFill>
              <a:srgbClr val="124E6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5544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the search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7889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a 32-d latent vector instead of 512 weights speeds up convergence.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68980" y="13716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24E66"/>
          </a:solidFill>
          <a:ln w="12700">
            <a:solidFill>
              <a:srgbClr val="124E6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97580" y="15544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49758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best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497580" y="27889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Latent-normalized updates with a mixup-trained decoder; plain VAE did worse.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80760" y="13716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24E66"/>
          </a:solidFill>
          <a:ln w="12700">
            <a:solidFill>
              <a:srgbClr val="124E6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0" y="15544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27889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only; needs a known source region and a known static secondary path.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8C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41732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mbria"/>
              </a:rPr>
              <a:t>Signals and Systems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2331720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CFE6EC"/>
                </a:solidFill>
                <a:latin typeface="Calibri"/>
              </a:rPr>
              <a:t>Active Noise Control using Latent FxLMS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312724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9FB8C4"/>
                </a:solidFill>
                <a:latin typeface="Calibri"/>
              </a:rPr>
              <a:t>Authors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3493008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FE6EC"/>
                </a:solidFill>
                <a:latin typeface="Calibri"/>
              </a:rPr>
              <a:t>Navneethnath 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840480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FE6EC"/>
                </a:solidFill>
                <a:latin typeface="Calibri"/>
              </a:rPr>
              <a:t>Sanskar 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4187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FE6EC"/>
                </a:solidFill>
                <a:latin typeface="Calibri"/>
              </a:rPr>
              <a:t>Kiran PB</a:t>
            </a:r>
          </a:p>
        </p:txBody>
      </p:sp>
      <p:sp>
        <p:nvSpPr>
          <p:cNvPr id="8" name="Oval 7"/>
          <p:cNvSpPr/>
          <p:nvPr/>
        </p:nvSpPr>
        <p:spPr>
          <a:xfrm>
            <a:off x="7315200" y="594359"/>
            <a:ext cx="3657600" cy="3657600"/>
          </a:xfrm>
          <a:prstGeom prst="ellipse">
            <a:avLst/>
          </a:prstGeom>
          <a:noFill/>
          <a:ln w="20320">
            <a:solidFill>
              <a:srgbClr val="19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0" y="1051560"/>
            <a:ext cx="2743200" cy="2743200"/>
          </a:xfrm>
          <a:prstGeom prst="ellipse">
            <a:avLst/>
          </a:prstGeom>
          <a:noFill/>
          <a:ln w="20320">
            <a:solidFill>
              <a:srgbClr val="FFA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0" y="1508760"/>
            <a:ext cx="1828800" cy="1828800"/>
          </a:xfrm>
          <a:prstGeom prst="ellipse">
            <a:avLst/>
          </a:prstGeom>
          <a:noFill/>
          <a:ln w="20320">
            <a:solidFill>
              <a:srgbClr val="19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0" y="1965960"/>
            <a:ext cx="914400" cy="914400"/>
          </a:xfrm>
          <a:prstGeom prst="ellipse">
            <a:avLst/>
          </a:prstGeom>
          <a:noFill/>
          <a:ln w="20320">
            <a:solidFill>
              <a:srgbClr val="FFA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034272" y="2313432"/>
            <a:ext cx="219456" cy="219456"/>
          </a:xfrm>
          <a:prstGeom prst="ellipse">
            <a:avLst/>
          </a:prstGeom>
          <a:solidFill>
            <a:srgbClr val="FFA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5532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FB8C4"/>
                </a:solidFill>
                <a:latin typeface="Calibri"/>
              </a:rPr>
              <a:t>Signals &amp;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tent FxLMS">
  <a:themeElements>
    <a:clrScheme name="Latent FxLMS">
      <a:dk1>
        <a:srgbClr val="0B2A3C"/>
      </a:dk1>
      <a:lt1>
        <a:srgbClr val="FFFFFF"/>
      </a:lt1>
      <a:dk2>
        <a:srgbClr val="124E66"/>
      </a:dk2>
      <a:lt2>
        <a:srgbClr val="EAF4F6"/>
      </a:lt2>
      <a:accent1>
        <a:srgbClr val="F2A33A"/>
      </a:accent1>
      <a:accent2>
        <a:srgbClr val="1C9AA8"/>
      </a:accent2>
      <a:accent3>
        <a:srgbClr val="D9534F"/>
      </a:accent3>
      <a:accent4>
        <a:srgbClr val="6C8EAD"/>
      </a:accent4>
      <a:accent5>
        <a:srgbClr val="7FB77E"/>
      </a:accent5>
      <a:accent6>
        <a:srgbClr val="8E6BB8"/>
      </a:accent6>
      <a:hlink>
        <a:srgbClr val="1C9AA8"/>
      </a:hlink>
      <a:folHlink>
        <a:srgbClr val="6C8EAD"/>
      </a:folHlink>
    </a:clrScheme>
    <a:fontScheme name="Latent FxL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Latent FxLMS</dc:title>
  <dc:subject>PptxGenJS Presentation</dc:subject>
  <dc:creator>PptxGenJS</dc:creator>
  <cp:lastModifiedBy>PptxGenJS</cp:lastModifiedBy>
  <cp:revision>1</cp:revision>
  <dcterms:created xsi:type="dcterms:W3CDTF">2026-10-08T10:42:30Z</dcterms:created>
  <dcterms:modified xsi:type="dcterms:W3CDTF">2026-10-08T10:42:30Z</dcterms:modified>
</cp:coreProperties>
</file>